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76"/>
  </p:notesMasterIdLst>
  <p:sldIdLst>
    <p:sldId id="463" r:id="rId155"/>
    <p:sldId id="464" r:id="rId156"/>
    <p:sldId id="465" r:id="rId157"/>
    <p:sldId id="466" r:id="rId158"/>
    <p:sldId id="467" r:id="rId159"/>
    <p:sldId id="468" r:id="rId160"/>
    <p:sldId id="469" r:id="rId161"/>
    <p:sldId id="470" r:id="rId162"/>
    <p:sldId id="471" r:id="rId163"/>
    <p:sldId id="472" r:id="rId164"/>
    <p:sldId id="473" r:id="rId165"/>
    <p:sldId id="474" r:id="rId166"/>
    <p:sldId id="475" r:id="rId1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DE"/>
    <a:srgbClr val="003140"/>
    <a:srgbClr val="FFFFFF"/>
    <a:srgbClr val="DE6BF9"/>
    <a:srgbClr val="EDB0FC"/>
    <a:srgbClr val="1C74A6"/>
    <a:srgbClr val="00B050"/>
    <a:srgbClr val="E0E0E0"/>
    <a:srgbClr val="00B653"/>
    <a:srgbClr val="07E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9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76" Type="http://schemas.openxmlformats.org/officeDocument/2006/relationships/notesMaster" Target="notesMasters/notesMaster1.xml"/><Relationship Id="rId177" Type="http://schemas.openxmlformats.org/officeDocument/2006/relationships/presProps" Target="presProps.xml"/><Relationship Id="rId178" Type="http://schemas.openxmlformats.org/officeDocument/2006/relationships/viewProps" Target="viewProps.xml"/><Relationship Id="rId179" Type="http://schemas.openxmlformats.org/officeDocument/2006/relationships/theme" Target="theme/theme1.xml"/><Relationship Id="rId18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09DC5-68F2-4230-868B-6FA81117FBD2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05367-3E37-47F2-9543-A194C2AE93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99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Relationship Id="rId3" Type="http://schemas.openxmlformats.org/officeDocument/2006/relationships/hyperlink" Target="https://www.bbc.com/bitesize/guides/z9jf2nb/revision/1" TargetMode="Externa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https://www.bbc.com/bitesize/guides/z9jf2nb/revision/1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9B6487-8268-4B1B-B503-C65C0EF880D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1511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63C437-BADB-26F1-1744-B58FF5287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CBFB801-A7E3-D5F2-41AF-20AE09E7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2AA20C0-F91E-718E-0FAA-2C1C8604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EF3A6F-1787-E73E-F0CA-8B77F656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4A7528-8DB0-F884-7366-D4348D2C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12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91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630BFD-41C9-4443-37A0-7DA0E7E8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LEMON MILK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08EC02-734E-FDAE-7DF3-8DB3C6AA7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58D06E-8825-23B1-C07E-FF963A9AC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91823C9-1047-477F-F79E-CBC28BFE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9EB253-8011-048D-8449-60840055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17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529FD9-52B6-B3F1-3ACC-92EB9B754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D83799-5349-F038-E14F-DB614AE9F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2A1649-151D-93EA-631F-B6099636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6C4EBE-9CE4-D786-4093-C4BB2FD7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731C0E-1C01-5CD7-8D36-2CAB20EA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D0B23-99D8-5C9C-2DB4-375C26F1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A73CCA-A2D9-9C14-2365-AA1EE615E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A55BD96-FD5E-73F6-F796-4F1494B89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E5168EB-58D8-A759-0050-632F4F55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EF8AA03-4BAF-F0E0-E32D-60119D79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80E02D9-AF26-C903-50A9-55EC9735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57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7BB497-6D57-98B6-5EC8-FDE5CB6E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D1B0F7-B6C5-B1D4-D80E-9B9C972D7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8D0C5B9-F4F6-0165-1411-ADCFCB843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21935E2-B472-EA91-DB4E-C839D7805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B760D12-2E96-23CB-A91A-8971B42F9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ACE3A3C-35F0-AF39-42CD-735B60048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AFE4A0E-F73F-2032-32AC-526010C7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31E3EB0-9117-A459-5243-B3DC5605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63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E51F82-84B2-5D36-C364-390E8923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2D17616-652E-05AA-FE9A-067BD8CA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8750DCC-3A1E-8816-A369-7128F0B4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ADB4CC8-7E5E-0E1E-CFB2-324D93DD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22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B481DC6-E884-9B37-F7D3-8D1D2BA3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C177595-7DBE-CA37-A966-4329AD60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57C3EF-50D5-B3D7-5976-F3C99413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44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8163C3-090A-ED96-6BA2-12BC4401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7BE877-B5AD-73D5-AD39-54969DF41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DF72D7E-4E92-4511-E3CA-11933BE62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945A9D1-C06F-C729-CF79-95BAE94C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D04E4A-A893-479C-B352-D71BEB8B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EA53356-B1BC-934B-E7DC-9884409B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17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16F818-E602-7294-7934-E1A4F112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74AACFF-11BF-EF5A-730B-C80F1E149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11D112-7B44-9FA8-E772-0B9B1C36B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59975E-D19D-D6D9-CB9D-D4D3F755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3D0A71-3B59-7F44-56F9-706ADF93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9D60747-C038-AAFF-A862-7D574E1E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95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8EB0AA-CC24-AF77-4BB4-53FB7D3E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5A0E8B6-4DFD-4D88-8F1D-40849C2C5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A9F494-B3DE-6065-F2BF-6F8ED78F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3C085F-8685-2373-EC66-78868E8A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EDB663-CDFD-1779-C76A-5B386BB5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75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EE53677-52B7-BFC6-E572-A036BEA9C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D729EDA-7926-9172-54DD-D0A3E3BB1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DAF23D-0B70-7617-B809-9045D499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9A83D4-743A-E1E6-0109-C9B1F12D0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D7CA8C-5DC8-E3F6-69F3-D3DF791D3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968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5FC9BC-F7EB-4679-B546-E51CDD232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5842375-5315-4C45-AF9B-0AFFA874C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235C8F-4E0E-4286-81DC-9D2934CD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5B17F6-EB77-4D18-ABF1-CA328B1D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3EBF0D-FE71-47F9-AA17-799D923C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202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EA7CC0-4E8D-49BB-BCEA-E0CD81FF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EC2238-C309-4CD6-9323-09399FB93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C8AAC1-9A0B-4FF8-956F-71104D75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723DC7-A23C-4813-A731-5094F371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D32689-12A9-4737-A421-ECDD1EFC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171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02290A-5F3A-44C5-9884-1F6AE2A1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F1DEA4-386A-429E-BD37-5198B65EC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1F06AB-A623-4C1A-8BC4-1BB08A9B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72F7FE7-E3CA-4757-9230-6214C1A2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21482D-7CC6-4B0D-BDF6-B3393296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72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A3C2C9-F2C5-4A0E-8BC3-F6585AC5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13A83B-6149-449B-8CE9-1B6939724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2B727F1-78E5-412E-80D4-A7741675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CBA42B1-3B39-4377-8297-74AE3F3D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ED6D471-C1B0-4477-B277-57E83E61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C8BDC9-EABC-4145-821B-4B47D43B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036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029212-66E6-4851-9704-D1D0E013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FBF198-7E05-45D2-9C13-5D9872865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E74D802-FCBE-448C-877C-CD24B8D89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CECCDE9-518A-445E-8F0C-E41DE2F43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6F49ED5-CDFC-4F48-BEBC-0C7E15B92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391BB69-7E14-4641-B195-CD6323A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3BF9193-A1D4-4A3F-83AB-2FDB7A8A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021F8D8-E735-45F3-BA7F-1414D060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54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A5104-FAA2-4170-8DC5-CFB596EE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158F3E3-39C2-43A6-AF89-6A707E9EE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66A3E8F-6D2B-4FDC-8ACF-6DB70723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523EEF6-CBD1-4990-A771-459D7D0C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453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31E45BA-EB29-4DE5-9CBF-B462C293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F172DBB-7912-4C35-A748-6D677146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8631C7-72D5-46AA-86D1-51198C4D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3414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08D40-C553-41FF-B9A1-3BFA2212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85827A-DCE8-4E98-B355-4B724B182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08DDB70-AE7E-4870-B4A8-95E93C4EC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394F09-A5BE-4260-8E8E-A6746C82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7C977C-02CF-4A0A-8605-4B9B6E6F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279887B-2092-40E1-9799-B078E7AD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30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53F6C2-2A79-425F-B78B-87E3060E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8BD401A-AEF7-4778-BEEC-390360469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76C66DF-B660-483E-BD6F-84C7873EB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899C61D-403E-483F-83C3-8BFE32B4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D7277D8-0608-4176-8C79-5A670155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5492866-2110-4E4B-9E03-868470DE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068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50BBE8-8A19-4CA3-B0D0-3D5AB372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7AF79E3-F4D3-4DBF-8A24-0B1330598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CB6C27-17B1-4FAF-8C3A-012979C9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589D89-8DB0-4C87-8159-392A5201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B50750-AAD6-4519-B3A2-D55A447F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121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1B17744-BE0E-4C2D-8E85-A98C36E1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BC260B5-3633-4226-81DC-11D7CFA74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BF93D7-48DF-4F02-BA34-CA5CED79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5904DB-50B8-4D9A-AB54-A21CBA5B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9EE86D-7426-4CBD-BA36-150F0FD5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0556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0172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056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037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5108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599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1986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5818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560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1132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712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9473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F0FABDB-F7B5-76B6-20FE-C0AED463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B11D2A-37FD-254F-F7BF-12ACEBDC1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C57448D-2A1A-EE33-37F7-8EE210FF1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48344B-9636-6D43-B7A1-AFC23066C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939D83-EBE7-5C4B-33F0-232FADF5B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41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LEMON MILK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7B86FEB-A93A-4930-B294-B95D0D60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412376B-86F3-4635-9383-75143BB0C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70128D-5950-47CB-BA99-F9601858C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BA322D-0C39-4F81-B6F5-292F37C22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0B5791-46F1-4425-BB08-95908C5D4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12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 userDrawn="1"/>
        </p:nvSpPr>
        <p:spPr>
          <a:xfrm flipH="1">
            <a:off x="0" y="0"/>
            <a:ext cx="12192000" cy="68580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66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B0F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B0F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B0F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B0F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B0F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5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6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7.jpe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8.jpeg"/><Relationship Id="rId3" Type="http://schemas.openxmlformats.org/officeDocument/2006/relationships/image" Target="../media/image99.jpeg"/><Relationship Id="rId4" Type="http://schemas.openxmlformats.org/officeDocument/2006/relationships/image" Target="../media/image97.jpe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8.jpeg"/><Relationship Id="rId3" Type="http://schemas.openxmlformats.org/officeDocument/2006/relationships/image" Target="../media/image99.jpeg"/><Relationship Id="rId4" Type="http://schemas.openxmlformats.org/officeDocument/2006/relationships/image" Target="../media/image100.png"/><Relationship Id="rId5" Type="http://schemas.microsoft.com/office/2007/relationships/hdphoto" Target="../media/hdphoto6.wdp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1.png"/><Relationship Id="rId3" Type="http://schemas.openxmlformats.org/officeDocument/2006/relationships/image" Target="../media/image100.png"/><Relationship Id="rId4" Type="http://schemas.microsoft.com/office/2007/relationships/hdphoto" Target="../media/hdphoto6.wdp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1.png"/><Relationship Id="rId3" Type="http://schemas.openxmlformats.org/officeDocument/2006/relationships/image" Target="../media/image100.png"/><Relationship Id="rId4" Type="http://schemas.microsoft.com/office/2007/relationships/hdphoto" Target="../media/hdphoto6.wdp"/><Relationship Id="rId5" Type="http://schemas.openxmlformats.org/officeDocument/2006/relationships/image" Target="../media/image102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2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3.png"/><Relationship Id="rId3" Type="http://schemas.openxmlformats.org/officeDocument/2006/relationships/image" Target="../media/image105.png"/><Relationship Id="rId4" Type="http://schemas.microsoft.com/office/2007/relationships/hdphoto" Target="../media/hdphoto7.wdp"/><Relationship Id="rId5" Type="http://schemas.openxmlformats.org/officeDocument/2006/relationships/image" Target="../media/image104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6.png"/><Relationship Id="rId3" Type="http://schemas.openxmlformats.org/officeDocument/2006/relationships/image" Target="../media/image104.png"/><Relationship Id="rId4" Type="http://schemas.openxmlformats.org/officeDocument/2006/relationships/image" Target="../media/image107.png"/><Relationship Id="rId5" Type="http://schemas.microsoft.com/office/2007/relationships/hdphoto" Target="../media/hdphoto7.wdp"/><Relationship Id="rId6" Type="http://schemas.openxmlformats.org/officeDocument/2006/relationships/image" Target="../media/image108.jpe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8.jpeg"/><Relationship Id="rId3" Type="http://schemas.openxmlformats.org/officeDocument/2006/relationships/image" Target="../media/image109.png"/><Relationship Id="rId4" Type="http://schemas.openxmlformats.org/officeDocument/2006/relationships/image" Target="../media/image107.png"/><Relationship Id="rId5" Type="http://schemas.microsoft.com/office/2007/relationships/hdphoto" Target="../media/hdphoto7.wdp"/><Relationship Id="rId6" Type="http://schemas.openxmlformats.org/officeDocument/2006/relationships/image" Target="../media/image110.jpe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0.jpe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1.jpe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microsoft.com/office/2007/relationships/hdphoto" Target="../media/hdphoto8.wdp"/><Relationship Id="rId9" Type="http://schemas.openxmlformats.org/officeDocument/2006/relationships/image" Target="../media/image116.png"/></Relationships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AEBF573-3311-45CC-B4B6-934C5C2FD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91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4B273C-3773-4669-8E6B-BE53F196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What You Need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A5F8B5-CA7B-450B-A0D4-DC9E23DDA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511300"/>
            <a:ext cx="10020300" cy="498157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explain the following iterative approaches to testing: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white box;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black box; and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system, unit and integration testing;</a:t>
            </a:r>
          </a:p>
          <a:p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create and use a test plan that identifies test procedures for use during and after development to check a system against success criteria;</a:t>
            </a:r>
          </a:p>
          <a:p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devise and use the following types of test data: 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valid, 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invalid 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Ink Free" panose="03080402000500000000" pitchFamily="66" charset="0"/>
              </a:rPr>
              <a:t>extreme;</a:t>
            </a:r>
          </a:p>
          <a:p>
            <a:endParaRPr lang="en-GB" dirty="0">
              <a:latin typeface="Ink Free" panose="03080402000500000000" pitchFamily="66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xmlns="" id="{2F76C33A-18DD-49F5-84F1-158025DA8281}"/>
              </a:ext>
            </a:extLst>
          </p:cNvPr>
          <p:cNvSpPr/>
          <p:nvPr/>
        </p:nvSpPr>
        <p:spPr>
          <a:xfrm>
            <a:off x="-3187700" y="3817257"/>
            <a:ext cx="2781300" cy="937306"/>
          </a:xfrm>
          <a:prstGeom prst="wedgeRoundRectCallout">
            <a:avLst>
              <a:gd name="adj1" fmla="val -53683"/>
              <a:gd name="adj2" fmla="val -1692"/>
              <a:gd name="adj3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WHAT IS THE AIM OF TESTING?!?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609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ownload Marge Simpson Wallpaper">
            <a:extLst>
              <a:ext uri="{FF2B5EF4-FFF2-40B4-BE49-F238E27FC236}">
                <a16:creationId xmlns:a16="http://schemas.microsoft.com/office/drawing/2014/main" xmlns="" id="{7AF7CBD1-0828-46F0-A26F-D1C4E53E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4" t="3358" r="36309" b="6434"/>
          <a:stretch/>
        </p:blipFill>
        <p:spPr bwMode="auto">
          <a:xfrm>
            <a:off x="0" y="2673350"/>
            <a:ext cx="2018737" cy="418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C4B186-04E3-4968-9A88-4C5BC634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8737" y="1952624"/>
            <a:ext cx="9740900" cy="4738687"/>
          </a:xfrm>
        </p:spPr>
        <p:txBody>
          <a:bodyPr/>
          <a:lstStyle/>
          <a:p>
            <a:r>
              <a:rPr lang="en-GB" dirty="0"/>
              <a:t>The aim of testing it to improve software quality. </a:t>
            </a:r>
          </a:p>
          <a:p>
            <a:r>
              <a:rPr lang="en-GB" dirty="0"/>
              <a:t>This is done by:</a:t>
            </a:r>
          </a:p>
          <a:p>
            <a:pPr lvl="1"/>
            <a:r>
              <a:rPr lang="en-GB" dirty="0"/>
              <a:t>Ensuring it is bug free</a:t>
            </a:r>
          </a:p>
          <a:p>
            <a:pPr lvl="1"/>
            <a:r>
              <a:rPr lang="en-GB" dirty="0"/>
              <a:t>Meeting all user requirements</a:t>
            </a:r>
          </a:p>
          <a:p>
            <a:pPr lvl="1"/>
            <a:r>
              <a:rPr lang="en-GB" dirty="0"/>
              <a:t>Operates efficiently</a:t>
            </a:r>
          </a:p>
          <a:p>
            <a:r>
              <a:rPr lang="en-GB" dirty="0"/>
              <a:t>To achieve this, we can build </a:t>
            </a:r>
            <a:r>
              <a:rPr lang="en-GB" b="1" dirty="0"/>
              <a:t>test cases</a:t>
            </a:r>
            <a:r>
              <a:rPr lang="en-GB" dirty="0"/>
              <a:t>, and alongside the use of </a:t>
            </a:r>
            <a:r>
              <a:rPr lang="en-GB" b="1" dirty="0"/>
              <a:t>test data</a:t>
            </a:r>
            <a:r>
              <a:rPr lang="en-GB" dirty="0"/>
              <a:t>, we can thoroughly test the system.</a:t>
            </a:r>
          </a:p>
          <a:p>
            <a:r>
              <a:rPr lang="en-GB" dirty="0"/>
              <a:t>This isn’t usually a single activity, but helps to identify and resolve errors/bugs</a:t>
            </a:r>
          </a:p>
          <a:p>
            <a:r>
              <a:rPr lang="en-GB" dirty="0"/>
              <a:t>There are several testing techniques we can use.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xmlns="" id="{A3E7DCA9-8353-4F23-A7C8-E304BE93AFF6}"/>
              </a:ext>
            </a:extLst>
          </p:cNvPr>
          <p:cNvSpPr/>
          <p:nvPr/>
        </p:nvSpPr>
        <p:spPr>
          <a:xfrm>
            <a:off x="838200" y="166688"/>
            <a:ext cx="10515600" cy="1325563"/>
          </a:xfrm>
          <a:prstGeom prst="wedgeRoundRectCallout">
            <a:avLst>
              <a:gd name="adj1" fmla="val -53683"/>
              <a:gd name="adj2" fmla="val -1692"/>
              <a:gd name="adj3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WHAT IS THE AIM OF TESTING?!?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465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omer HD wallpapers | Pxfuel">
            <a:extLst>
              <a:ext uri="{FF2B5EF4-FFF2-40B4-BE49-F238E27FC236}">
                <a16:creationId xmlns:a16="http://schemas.microsoft.com/office/drawing/2014/main" xmlns="" id="{DB706AE8-848F-4124-B49C-014231CE63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5" r="36196"/>
          <a:stretch/>
        </p:blipFill>
        <p:spPr bwMode="auto">
          <a:xfrm>
            <a:off x="0" y="0"/>
            <a:ext cx="3225801" cy="686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DA307-A3EA-494A-9C18-3F69835D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100" y="365125"/>
            <a:ext cx="8648700" cy="1325563"/>
          </a:xfrm>
        </p:spPr>
        <p:txBody>
          <a:bodyPr/>
          <a:lstStyle/>
          <a:p>
            <a:r>
              <a:rPr lang="en-GB" dirty="0"/>
              <a:t>White Box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CACE9E-85B8-4E0C-862E-CF16C2E0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5801" y="2190749"/>
            <a:ext cx="8839200" cy="4460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Involves detailed testing of the internal logic of a section of code.</a:t>
            </a:r>
          </a:p>
          <a:p>
            <a:pPr lvl="1"/>
            <a:r>
              <a:rPr lang="en-GB" dirty="0"/>
              <a:t>In short, you can see the internal components of the code</a:t>
            </a:r>
          </a:p>
          <a:p>
            <a:pPr lvl="1"/>
            <a:r>
              <a:rPr lang="en-GB" dirty="0"/>
              <a:t>It is used to identify syntax, logic and data flow within the code.</a:t>
            </a:r>
          </a:p>
          <a:p>
            <a:r>
              <a:rPr lang="en-GB" dirty="0"/>
              <a:t>Tester needs to know how the code works within the internal structure of the code, so is often completed by the programmer</a:t>
            </a:r>
          </a:p>
          <a:p>
            <a:pPr lvl="1"/>
            <a:r>
              <a:rPr lang="en-GB" dirty="0"/>
              <a:t>Carried out on units of code.</a:t>
            </a:r>
          </a:p>
          <a:p>
            <a:pPr lvl="1"/>
            <a:r>
              <a:rPr lang="en-GB" dirty="0"/>
              <a:t>Every possible pathway through the code needs to be tested in this way</a:t>
            </a:r>
          </a:p>
          <a:p>
            <a:pPr lvl="2"/>
            <a:r>
              <a:rPr lang="en-GB" dirty="0"/>
              <a:t>Test cases should be built so that every statement is executed at least once (for example, all branches of an IF statement need to be executed/etc)</a:t>
            </a:r>
          </a:p>
          <a:p>
            <a:endParaRPr lang="en-GB" dirty="0"/>
          </a:p>
        </p:txBody>
      </p:sp>
      <p:pic>
        <p:nvPicPr>
          <p:cNvPr id="7175" name="Picture 7" descr="Mint and the Simpsons - Chris Skinner's blog">
            <a:extLst>
              <a:ext uri="{FF2B5EF4-FFF2-40B4-BE49-F238E27FC236}">
                <a16:creationId xmlns:a16="http://schemas.microsoft.com/office/drawing/2014/main" xmlns="" id="{788ED7D2-43A9-4CBB-AA8C-F71E157DB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6900" y="0"/>
            <a:ext cx="2705099" cy="2028825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ownload Marge Simpson Wallpaper">
            <a:extLst>
              <a:ext uri="{FF2B5EF4-FFF2-40B4-BE49-F238E27FC236}">
                <a16:creationId xmlns:a16="http://schemas.microsoft.com/office/drawing/2014/main" xmlns="" id="{9EB9DF94-CAC5-4A1C-9F11-46FB66D89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4" t="3358" r="36309" b="6434"/>
          <a:stretch/>
        </p:blipFill>
        <p:spPr bwMode="auto">
          <a:xfrm>
            <a:off x="-2510971" y="6127750"/>
            <a:ext cx="2018737" cy="418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019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omer HD wallpapers | Pxfuel">
            <a:extLst>
              <a:ext uri="{FF2B5EF4-FFF2-40B4-BE49-F238E27FC236}">
                <a16:creationId xmlns:a16="http://schemas.microsoft.com/office/drawing/2014/main" xmlns="" id="{DB706AE8-848F-4124-B49C-014231CE63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5" r="36196"/>
          <a:stretch/>
        </p:blipFill>
        <p:spPr bwMode="auto">
          <a:xfrm>
            <a:off x="0" y="0"/>
            <a:ext cx="3225801" cy="686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DA307-A3EA-494A-9C18-3F69835D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100" y="365125"/>
            <a:ext cx="8648700" cy="1325563"/>
          </a:xfrm>
        </p:spPr>
        <p:txBody>
          <a:bodyPr/>
          <a:lstStyle/>
          <a:p>
            <a:r>
              <a:rPr lang="en-GB" dirty="0"/>
              <a:t>White Box Testing</a:t>
            </a:r>
          </a:p>
        </p:txBody>
      </p:sp>
      <p:pic>
        <p:nvPicPr>
          <p:cNvPr id="7175" name="Picture 7" descr="Mint and the Simpsons - Chris Skinner's blog">
            <a:extLst>
              <a:ext uri="{FF2B5EF4-FFF2-40B4-BE49-F238E27FC236}">
                <a16:creationId xmlns:a16="http://schemas.microsoft.com/office/drawing/2014/main" xmlns="" id="{788ED7D2-43A9-4CBB-AA8C-F71E157DB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902" y="-2163761"/>
            <a:ext cx="2705099" cy="2028825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55CF5F58-1E2A-4075-B18F-5708619CCD93}"/>
              </a:ext>
            </a:extLst>
          </p:cNvPr>
          <p:cNvGraphicFramePr>
            <a:graphicFrameLocks noGrp="1"/>
          </p:cNvGraphicFramePr>
          <p:nvPr/>
        </p:nvGraphicFramePr>
        <p:xfrm>
          <a:off x="3409632" y="2055813"/>
          <a:ext cx="8350568" cy="4437062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4174891">
                  <a:extLst>
                    <a:ext uri="{9D8B030D-6E8A-4147-A177-3AD203B41FA5}">
                      <a16:colId xmlns:a16="http://schemas.microsoft.com/office/drawing/2014/main" xmlns="" val="2079058144"/>
                    </a:ext>
                  </a:extLst>
                </a:gridCol>
                <a:gridCol w="4175677">
                  <a:extLst>
                    <a:ext uri="{9D8B030D-6E8A-4147-A177-3AD203B41FA5}">
                      <a16:colId xmlns:a16="http://schemas.microsoft.com/office/drawing/2014/main" xmlns="" val="1833996921"/>
                    </a:ext>
                  </a:extLst>
                </a:gridCol>
              </a:tblGrid>
              <a:tr h="622127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3200" b="1" dirty="0">
                          <a:effectLst/>
                        </a:rPr>
                        <a:t>Advantages</a:t>
                      </a:r>
                      <a:endParaRPr lang="en-GB" sz="3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3200" b="1" dirty="0">
                          <a:effectLst/>
                        </a:rPr>
                        <a:t>Disadvantages</a:t>
                      </a:r>
                      <a:endParaRPr lang="en-GB" sz="3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79281503"/>
                  </a:ext>
                </a:extLst>
              </a:tr>
              <a:tr h="1271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400" b="0">
                          <a:effectLst/>
                        </a:rPr>
                        <a:t>Thorough because it allows each line of code to be tested</a:t>
                      </a:r>
                      <a:endParaRPr lang="en-GB" sz="24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Experienced programmers required to undertake the testing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4352455"/>
                  </a:ext>
                </a:extLst>
              </a:tr>
              <a:tr h="1271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400" b="0" dirty="0">
                          <a:effectLst/>
                        </a:rPr>
                        <a:t>Hidden errors are identified, and the code is modified and optimised</a:t>
                      </a:r>
                      <a:endParaRPr lang="en-GB" sz="2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Large scale applications require complex test cases (so is time consuming)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84834077"/>
                  </a:ext>
                </a:extLst>
              </a:tr>
              <a:tr h="127164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400" b="0" dirty="0">
                          <a:effectLst/>
                        </a:rPr>
                        <a:t>Programmers know the code so can easily identify suitable test data</a:t>
                      </a:r>
                      <a:endParaRPr lang="en-GB" sz="2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Some conditions may not be tested as it is not possible to test every possibility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81727562"/>
                  </a:ext>
                </a:extLst>
              </a:tr>
            </a:tbl>
          </a:graphicData>
        </a:graphic>
      </p:graphicFrame>
      <p:pic>
        <p:nvPicPr>
          <p:cNvPr id="6" name="Picture 5" descr="https://phoenixnap.com/blog/wp-content/uploads/2018/11/black-approach.jpg">
            <a:extLst>
              <a:ext uri="{FF2B5EF4-FFF2-40B4-BE49-F238E27FC236}">
                <a16:creationId xmlns:a16="http://schemas.microsoft.com/office/drawing/2014/main" xmlns="" id="{BF44BDDC-9B47-4D88-975B-15D77AAE53DA}"/>
              </a:ext>
            </a:extLst>
          </p:cNvPr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32" b="97898" l="2667" r="98000">
                        <a14:foregroundMark x1="7778" y1="57057" x2="22889" y2="64865"/>
                        <a14:foregroundMark x1="78111" y1="57057" x2="87222" y2="64865"/>
                        <a14:foregroundMark x1="93111" y1="64264" x2="93111" y2="64264"/>
                        <a14:foregroundMark x1="83000" y1="39339" x2="83000" y2="39339"/>
                        <a14:foregroundMark x1="11667" y1="49249" x2="11667" y2="49249"/>
                        <a14:foregroundMark x1="15000" y1="48348" x2="15000" y2="48348"/>
                        <a14:foregroundMark x1="54333" y1="74174" x2="55000" y2="75976"/>
                        <a14:foregroundMark x1="35556" y1="37237" x2="35556" y2="37237"/>
                        <a14:foregroundMark x1="5444" y1="75676" x2="18889" y2="76877"/>
                        <a14:foregroundMark x1="17889" y1="84685" x2="29222" y2="63363"/>
                        <a14:foregroundMark x1="83222" y1="44144" x2="83889" y2="59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9163"/>
          <a:stretch/>
        </p:blipFill>
        <p:spPr bwMode="auto">
          <a:xfrm>
            <a:off x="5353367" y="-1161025"/>
            <a:ext cx="4101465" cy="10750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40688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DB706AE8-848F-4124-B49C-014231CE6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66199" y="0"/>
            <a:ext cx="3225801" cy="686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DA307-A3EA-494A-9C18-3F69835D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Black Box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CACE9E-85B8-4E0C-862E-CF16C2E0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2055813"/>
            <a:ext cx="8712199" cy="43513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bg1"/>
                </a:solidFill>
              </a:rPr>
              <a:t>Focuses on inputs and outputs of the system, and is usually done by a beta tester/non-programmer</a:t>
            </a:r>
          </a:p>
          <a:p>
            <a:r>
              <a:rPr lang="en-GB" dirty="0">
                <a:solidFill>
                  <a:schemeClr val="bg1"/>
                </a:solidFill>
              </a:rPr>
              <a:t>Used to identify: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errors in data structures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problems with user interfaces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errors in reports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missing functionality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behaviour errors</a:t>
            </a:r>
          </a:p>
          <a:p>
            <a:r>
              <a:rPr lang="en-GB" dirty="0">
                <a:solidFill>
                  <a:schemeClr val="bg1"/>
                </a:solidFill>
              </a:rPr>
              <a:t>Tester has no knowledge of the internal code so interacts with the user interface only</a:t>
            </a:r>
          </a:p>
          <a:p>
            <a:r>
              <a:rPr lang="en-GB" dirty="0">
                <a:solidFill>
                  <a:schemeClr val="bg1"/>
                </a:solidFill>
              </a:rPr>
              <a:t>A variety of users will carry out this type of testing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9" name="Picture 8" descr="https://phoenixnap.com/blog/wp-content/uploads/2018/11/black-approach.jpg">
            <a:extLst>
              <a:ext uri="{FF2B5EF4-FFF2-40B4-BE49-F238E27FC236}">
                <a16:creationId xmlns:a16="http://schemas.microsoft.com/office/drawing/2014/main" xmlns="" id="{8EA7EAD3-D14B-44BC-86BF-A3D19608BCD7}"/>
              </a:ext>
            </a:extLst>
          </p:cNvPr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32" b="97898" l="2667" r="98000">
                        <a14:foregroundMark x1="7778" y1="57057" x2="22889" y2="64865"/>
                        <a14:foregroundMark x1="78111" y1="57057" x2="87222" y2="64865"/>
                        <a14:foregroundMark x1="93111" y1="64264" x2="93111" y2="64264"/>
                        <a14:foregroundMark x1="83000" y1="39339" x2="83000" y2="39339"/>
                        <a14:foregroundMark x1="11667" y1="49249" x2="11667" y2="49249"/>
                        <a14:foregroundMark x1="15000" y1="48348" x2="15000" y2="48348"/>
                        <a14:foregroundMark x1="54333" y1="74174" x2="55000" y2="75976"/>
                        <a14:foregroundMark x1="35556" y1="37237" x2="35556" y2="37237"/>
                        <a14:foregroundMark x1="5444" y1="75676" x2="18889" y2="76877"/>
                        <a14:foregroundMark x1="17889" y1="84685" x2="29222" y2="63363"/>
                        <a14:foregroundMark x1="83222" y1="44144" x2="83889" y2="59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9163"/>
          <a:stretch/>
        </p:blipFill>
        <p:spPr bwMode="auto">
          <a:xfrm>
            <a:off x="5353367" y="304917"/>
            <a:ext cx="4101465" cy="10750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41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DB706AE8-848F-4124-B49C-014231CE6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66199" y="0"/>
            <a:ext cx="3225801" cy="686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DA307-A3EA-494A-9C18-3F69835D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Black Box Testing</a:t>
            </a:r>
          </a:p>
        </p:txBody>
      </p:sp>
      <p:pic>
        <p:nvPicPr>
          <p:cNvPr id="5" name="Picture 4" descr="https://phoenixnap.com/blog/wp-content/uploads/2018/11/black-approach.jpg">
            <a:extLst>
              <a:ext uri="{FF2B5EF4-FFF2-40B4-BE49-F238E27FC236}">
                <a16:creationId xmlns:a16="http://schemas.microsoft.com/office/drawing/2014/main" xmlns="" id="{D15D6735-7A17-4A0F-A0E0-DF9FD33819C1}"/>
              </a:ext>
            </a:extLst>
          </p:cNvPr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32" b="97898" l="2667" r="98000">
                        <a14:foregroundMark x1="7778" y1="57057" x2="22889" y2="64865"/>
                        <a14:foregroundMark x1="78111" y1="57057" x2="87222" y2="64865"/>
                        <a14:foregroundMark x1="93111" y1="64264" x2="93111" y2="64264"/>
                        <a14:foregroundMark x1="83000" y1="39339" x2="83000" y2="39339"/>
                        <a14:foregroundMark x1="11667" y1="49249" x2="11667" y2="49249"/>
                        <a14:foregroundMark x1="15000" y1="48348" x2="15000" y2="48348"/>
                        <a14:foregroundMark x1="54333" y1="74174" x2="55000" y2="75976"/>
                        <a14:foregroundMark x1="35556" y1="37237" x2="35556" y2="37237"/>
                        <a14:foregroundMark x1="5444" y1="75676" x2="18889" y2="76877"/>
                        <a14:foregroundMark x1="17889" y1="84685" x2="29222" y2="63363"/>
                        <a14:foregroundMark x1="83222" y1="44144" x2="83889" y2="59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9163"/>
          <a:stretch/>
        </p:blipFill>
        <p:spPr bwMode="auto">
          <a:xfrm>
            <a:off x="5416867" y="-1163552"/>
            <a:ext cx="4101465" cy="10750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774AEF1D-1714-4F79-90C2-F4118B39E9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9432" y="1965876"/>
          <a:ext cx="7448868" cy="4053923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724083">
                  <a:extLst>
                    <a:ext uri="{9D8B030D-6E8A-4147-A177-3AD203B41FA5}">
                      <a16:colId xmlns:a16="http://schemas.microsoft.com/office/drawing/2014/main" xmlns="" val="1783079036"/>
                    </a:ext>
                  </a:extLst>
                </a:gridCol>
                <a:gridCol w="3724785">
                  <a:extLst>
                    <a:ext uri="{9D8B030D-6E8A-4147-A177-3AD203B41FA5}">
                      <a16:colId xmlns:a16="http://schemas.microsoft.com/office/drawing/2014/main" xmlns="" val="3290608120"/>
                    </a:ext>
                  </a:extLst>
                </a:gridCol>
              </a:tblGrid>
              <a:tr h="568406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3200" dirty="0">
                          <a:effectLst/>
                        </a:rPr>
                        <a:t>Advantages</a:t>
                      </a:r>
                      <a:endParaRPr lang="en-GB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3200" dirty="0">
                          <a:effectLst/>
                        </a:rPr>
                        <a:t>Disadvantages</a:t>
                      </a:r>
                      <a:endParaRPr lang="en-GB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35480723"/>
                  </a:ext>
                </a:extLst>
              </a:tr>
              <a:tr h="1161839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1800" b="0">
                          <a:effectLst/>
                        </a:rPr>
                        <a:t>Can help identify where the user requirements are not being met</a:t>
                      </a:r>
                      <a:endParaRPr lang="en-GB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Not all problem pathways will be tested (small number of input cases)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05356882"/>
                  </a:ext>
                </a:extLst>
              </a:tr>
              <a:tr h="1161839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1800" b="0">
                          <a:effectLst/>
                        </a:rPr>
                        <a:t>Do not need to know about code/ tester is independent from developer</a:t>
                      </a:r>
                      <a:endParaRPr lang="en-GB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Reason for failure not always determined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001539219"/>
                  </a:ext>
                </a:extLst>
              </a:tr>
              <a:tr h="1161839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1800" b="0" dirty="0">
                          <a:effectLst/>
                        </a:rPr>
                        <a:t>Test cases can be designed as soon as the specification for the unit is completed</a:t>
                      </a:r>
                      <a:endParaRPr lang="en-GB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Repetition of tests already carried out by the programmer may occur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27428862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BA92DF9-283B-40B3-B976-6A4B52CAA8F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24" t="28493"/>
          <a:stretch/>
        </p:blipFill>
        <p:spPr>
          <a:xfrm>
            <a:off x="12192000" y="3746500"/>
            <a:ext cx="1143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17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2CD8EEA0-798B-45CF-B4D7-0BDB29B64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9218" y="4532091"/>
            <a:ext cx="554214" cy="1361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3098E5-AB4E-4A16-90CD-19BA8326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365125"/>
            <a:ext cx="11874500" cy="1092199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r>
              <a:rPr lang="en-GB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5549E2-DDD8-41D0-AD32-55F241D31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1457324"/>
            <a:ext cx="11874500" cy="5273675"/>
          </a:xfrm>
          <a:solidFill>
            <a:schemeClr val="accent2">
              <a:lumMod val="60000"/>
              <a:lumOff val="40000"/>
              <a:alpha val="70000"/>
            </a:schemeClr>
          </a:solidFill>
        </p:spPr>
        <p:txBody>
          <a:bodyPr/>
          <a:lstStyle/>
          <a:p>
            <a:pPr lvl="0"/>
            <a:r>
              <a:rPr lang="en-GB" dirty="0"/>
              <a:t>One module of code in the program is tested to ensure that it works as expected</a:t>
            </a:r>
          </a:p>
          <a:p>
            <a:pPr lvl="0"/>
            <a:r>
              <a:rPr lang="en-GB" dirty="0"/>
              <a:t>Will have no relationship to code outside of the unit being tested.</a:t>
            </a:r>
          </a:p>
          <a:p>
            <a:pPr lvl="0"/>
            <a:r>
              <a:rPr lang="en-GB" dirty="0"/>
              <a:t>Starts with module specification and includes detailed testing of the code.</a:t>
            </a:r>
          </a:p>
          <a:p>
            <a:pPr lvl="0"/>
            <a:r>
              <a:rPr lang="en-GB" dirty="0"/>
              <a:t>Usually performed by the software developer and is the first level of testing (it is completed as the product is being created).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8923749-122E-4D19-83A4-81536C0DE6C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24" t="28493"/>
          <a:stretch/>
        </p:blipFill>
        <p:spPr>
          <a:xfrm>
            <a:off x="11049000" y="3844926"/>
            <a:ext cx="1143000" cy="31115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1F8DCAF8-D036-46E0-807F-D6AE2D13D821}"/>
              </a:ext>
            </a:extLst>
          </p:cNvPr>
          <p:cNvGraphicFramePr>
            <a:graphicFrameLocks noGrp="1"/>
          </p:cNvGraphicFramePr>
          <p:nvPr/>
        </p:nvGraphicFramePr>
        <p:xfrm>
          <a:off x="348932" y="4633691"/>
          <a:ext cx="10700068" cy="2034934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6597407">
                  <a:extLst>
                    <a:ext uri="{9D8B030D-6E8A-4147-A177-3AD203B41FA5}">
                      <a16:colId xmlns:a16="http://schemas.microsoft.com/office/drawing/2014/main" xmlns="" val="1692354859"/>
                    </a:ext>
                  </a:extLst>
                </a:gridCol>
                <a:gridCol w="4102661">
                  <a:extLst>
                    <a:ext uri="{9D8B030D-6E8A-4147-A177-3AD203B41FA5}">
                      <a16:colId xmlns:a16="http://schemas.microsoft.com/office/drawing/2014/main" xmlns="" val="2095941613"/>
                    </a:ext>
                  </a:extLst>
                </a:gridCol>
              </a:tblGrid>
              <a:tr h="260679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Advantages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Disadvantages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85256590"/>
                  </a:ext>
                </a:extLst>
              </a:tr>
              <a:tr h="532835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000" b="0">
                          <a:effectLst/>
                        </a:rPr>
                        <a:t>Increase confidence when needing to change pieces of code</a:t>
                      </a:r>
                      <a:endParaRPr lang="en-GB" sz="2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Very time consuming</a:t>
                      </a:r>
                      <a:endParaRPr lang="en-GB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92973363"/>
                  </a:ext>
                </a:extLst>
              </a:tr>
              <a:tr h="532835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000" b="0">
                          <a:effectLst/>
                        </a:rPr>
                        <a:t>Development is faster as errors can be deleted more easily</a:t>
                      </a:r>
                      <a:endParaRPr lang="en-GB" sz="2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Does not show absence of errors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16291499"/>
                  </a:ext>
                </a:extLst>
              </a:tr>
              <a:tr h="532835"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  <a:tabLst>
                          <a:tab pos="6184900" algn="l"/>
                        </a:tabLst>
                      </a:pPr>
                      <a:r>
                        <a:rPr lang="en-GB" sz="2000" b="0" dirty="0">
                          <a:effectLst/>
                        </a:rPr>
                        <a:t>Debugging is faster and easier – when a test fails the only part that needs debugged are the latest changes</a:t>
                      </a:r>
                      <a:endParaRPr lang="en-GB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Hard to create realistic, useful tests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904894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809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Free: Clipart Info - Bart Simpson Transparent Background - nohat.cc">
            <a:extLst>
              <a:ext uri="{FF2B5EF4-FFF2-40B4-BE49-F238E27FC236}">
                <a16:creationId xmlns:a16="http://schemas.microsoft.com/office/drawing/2014/main" xmlns="" id="{22E48FBF-66C6-4560-88EF-0669F6F02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95" b="94828" l="10000" r="90000">
                        <a14:foregroundMark x1="31667" y1="5927" x2="31667" y2="18858"/>
                        <a14:foregroundMark x1="21806" y1="26616" x2="31944" y2="27694"/>
                        <a14:foregroundMark x1="31944" y1="27694" x2="38333" y2="29849"/>
                        <a14:foregroundMark x1="23333" y1="21336" x2="21667" y2="36853"/>
                        <a14:foregroundMark x1="33472" y1="71336" x2="51250" y2="74030"/>
                        <a14:foregroundMark x1="51250" y1="74030" x2="51250" y2="74030"/>
                        <a14:foregroundMark x1="29028" y1="73491" x2="31806" y2="74784"/>
                        <a14:foregroundMark x1="28056" y1="88147" x2="37083" y2="91056"/>
                        <a14:foregroundMark x1="37083" y1="91056" x2="44722" y2="91703"/>
                        <a14:foregroundMark x1="47639" y1="94073" x2="39028" y2="94828"/>
                        <a14:foregroundMark x1="24028" y1="92780" x2="33333" y2="93103"/>
                        <a14:foregroundMark x1="45278" y1="88147" x2="46667" y2="88901"/>
                        <a14:foregroundMark x1="40972" y1="87177" x2="49028" y2="87931"/>
                        <a14:foregroundMark x1="32639" y1="85560" x2="38611" y2="86638"/>
                        <a14:foregroundMark x1="18194" y1="24246" x2="18194" y2="28556"/>
                        <a14:foregroundMark x1="33472" y1="24461" x2="30417" y2="29095"/>
                        <a14:foregroundMark x1="27500" y1="5711" x2="27500" y2="5711"/>
                        <a14:foregroundMark x1="31667" y1="5388" x2="31667" y2="5388"/>
                        <a14:foregroundMark x1="27778" y1="4957" x2="27778" y2="4957"/>
                        <a14:foregroundMark x1="31667" y1="4095" x2="31806" y2="6681"/>
                        <a14:foregroundMark x1="29444" y1="24784" x2="39306" y2="27155"/>
                        <a14:foregroundMark x1="39306" y1="27155" x2="42639" y2="29095"/>
                        <a14:foregroundMark x1="15417" y1="25970" x2="15417" y2="25970"/>
                        <a14:foregroundMark x1="35000" y1="94073" x2="40417" y2="94073"/>
                        <a14:foregroundMark x1="49306" y1="93858" x2="50694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933" y="5929086"/>
            <a:ext cx="184767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789C4A-4FCB-4083-8FDA-0348A94C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365125"/>
            <a:ext cx="10172700" cy="1092199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r>
              <a:rPr lang="en-GB" dirty="0"/>
              <a:t>Integration Testing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B5D61BB7-D5E1-4712-AAB2-8D1D27E37933}"/>
              </a:ext>
            </a:extLst>
          </p:cNvPr>
          <p:cNvSpPr txBox="1">
            <a:spLocks/>
          </p:cNvSpPr>
          <p:nvPr/>
        </p:nvSpPr>
        <p:spPr>
          <a:xfrm>
            <a:off x="127000" y="1457324"/>
            <a:ext cx="10172700" cy="5273675"/>
          </a:xfrm>
          <a:prstGeom prst="rect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Occurs after unit testing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number of tested units are combined (integrated) together to complete a software system.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example, if you unit tested a login screen and register screen, you would then test these together to ensure they work – this is where you are integration testing.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Focuses on the data passing between units.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to identify problems with interfaces or with interactions between units (for example, a login.txt text file)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Focuses on input, output and code associated with the units in the subsystem.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72399FD8-26B0-4904-A0FA-FD51D9875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086" y="4381500"/>
            <a:ext cx="2565914" cy="2608537"/>
          </a:xfrm>
        </p:spPr>
      </p:pic>
    </p:spTree>
    <p:extLst>
      <p:ext uri="{BB962C8B-B14F-4D97-AF65-F5344CB8AC3E}">
        <p14:creationId xmlns:p14="http://schemas.microsoft.com/office/powerpoint/2010/main" val="579136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73F44854-8C44-4B9E-9F8E-5A65FC971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8" y="3638276"/>
            <a:ext cx="435428" cy="2617382"/>
          </a:xfrm>
        </p:spPr>
      </p:pic>
      <p:pic>
        <p:nvPicPr>
          <p:cNvPr id="8194" name="Picture 2" descr="Free: Clipart Info - Bart Simpson Transparent Background - nohat.cc">
            <a:extLst>
              <a:ext uri="{FF2B5EF4-FFF2-40B4-BE49-F238E27FC236}">
                <a16:creationId xmlns:a16="http://schemas.microsoft.com/office/drawing/2014/main" xmlns="" id="{DF880969-8C78-4F96-A95E-B420255F0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95" b="94828" l="10000" r="90000">
                        <a14:foregroundMark x1="31667" y1="5927" x2="31667" y2="18858"/>
                        <a14:foregroundMark x1="21806" y1="26616" x2="31944" y2="27694"/>
                        <a14:foregroundMark x1="31944" y1="27694" x2="38333" y2="29849"/>
                        <a14:foregroundMark x1="23333" y1="21336" x2="21667" y2="36853"/>
                        <a14:foregroundMark x1="33472" y1="71336" x2="51250" y2="74030"/>
                        <a14:foregroundMark x1="51250" y1="74030" x2="51250" y2="74030"/>
                        <a14:foregroundMark x1="29028" y1="73491" x2="31806" y2="74784"/>
                        <a14:foregroundMark x1="28056" y1="88147" x2="37083" y2="91056"/>
                        <a14:foregroundMark x1="37083" y1="91056" x2="44722" y2="91703"/>
                        <a14:foregroundMark x1="47639" y1="94073" x2="39028" y2="94828"/>
                        <a14:foregroundMark x1="24028" y1="92780" x2="33333" y2="93103"/>
                        <a14:foregroundMark x1="45278" y1="88147" x2="46667" y2="88901"/>
                        <a14:foregroundMark x1="40972" y1="87177" x2="49028" y2="87931"/>
                        <a14:foregroundMark x1="32639" y1="85560" x2="38611" y2="86638"/>
                        <a14:foregroundMark x1="18194" y1="24246" x2="18194" y2="28556"/>
                        <a14:foregroundMark x1="33472" y1="24461" x2="30417" y2="29095"/>
                        <a14:foregroundMark x1="27500" y1="5711" x2="27500" y2="5711"/>
                        <a14:foregroundMark x1="31667" y1="5388" x2="31667" y2="5388"/>
                        <a14:foregroundMark x1="27778" y1="4957" x2="27778" y2="4957"/>
                        <a14:foregroundMark x1="31667" y1="4095" x2="31806" y2="6681"/>
                        <a14:foregroundMark x1="29444" y1="24784" x2="39306" y2="27155"/>
                        <a14:foregroundMark x1="39306" y1="27155" x2="42639" y2="29095"/>
                        <a14:foregroundMark x1="15417" y1="25970" x2="15417" y2="25970"/>
                        <a14:foregroundMark x1="35000" y1="94073" x2="40417" y2="94073"/>
                        <a14:foregroundMark x1="49306" y1="93858" x2="50694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0050" y="3429000"/>
            <a:ext cx="2845417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F8F19DB3-935B-4CCF-8EDB-D2E42B9C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390525"/>
            <a:ext cx="10172700" cy="1092199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r>
              <a:rPr lang="en-GB" dirty="0"/>
              <a:t>System Testing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21E3B0D1-35F7-4F69-B571-628CFD19D9AC}"/>
              </a:ext>
            </a:extLst>
          </p:cNvPr>
          <p:cNvSpPr txBox="1">
            <a:spLocks/>
          </p:cNvSpPr>
          <p:nvPr/>
        </p:nvSpPr>
        <p:spPr>
          <a:xfrm>
            <a:off x="1866900" y="1482724"/>
            <a:ext cx="10172700" cy="3914775"/>
          </a:xfrm>
          <a:prstGeom prst="rect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Carried out after integration testing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sub-systems are brought together to form a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complete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system – it is tested as a black box and the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internal code is not tested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Helps to identify missing functionality to ensure it meets the user requirements, checks for missing functionality or issues related to performance.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Should be carried out in a real-life setting with real volumes of data.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The Simpsons Lisa Holding Money Wallpapers - Cartoon Wallpapers">
            <a:extLst>
              <a:ext uri="{FF2B5EF4-FFF2-40B4-BE49-F238E27FC236}">
                <a16:creationId xmlns:a16="http://schemas.microsoft.com/office/drawing/2014/main" xmlns="" id="{17ADF8DF-B709-4F80-A947-0A45E1F86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43775"/>
            <a:ext cx="3163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920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C8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Simpsons Lisa Holding Money Wallpapers - Cartoon Wallpapers">
            <a:extLst>
              <a:ext uri="{FF2B5EF4-FFF2-40B4-BE49-F238E27FC236}">
                <a16:creationId xmlns:a16="http://schemas.microsoft.com/office/drawing/2014/main" xmlns="" id="{2500D877-2C7D-44BE-9CA9-E8A923916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63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EAFFC8-EAF7-48AC-9100-D0EA85996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11200"/>
          </a:xfrm>
        </p:spPr>
        <p:txBody>
          <a:bodyPr/>
          <a:lstStyle/>
          <a:p>
            <a:r>
              <a:rPr lang="en-GB" dirty="0"/>
              <a:t>Creating and Using a Test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5ABEA5-3425-4EAF-A522-47E4303BE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0" y="889000"/>
            <a:ext cx="9182100" cy="4882357"/>
          </a:xfrm>
        </p:spPr>
        <p:txBody>
          <a:bodyPr/>
          <a:lstStyle/>
          <a:p>
            <a:r>
              <a:rPr lang="en-GB" dirty="0"/>
              <a:t>A test plan is a record of the test planning process</a:t>
            </a:r>
          </a:p>
          <a:p>
            <a:r>
              <a:rPr lang="en-GB" dirty="0"/>
              <a:t>Identifies features to be tested, provides a description or reason for each test, and specifies the data to be entered along with the expected outcome.</a:t>
            </a:r>
          </a:p>
          <a:p>
            <a:r>
              <a:rPr lang="en-GB" dirty="0"/>
              <a:t>Testing can be carried out at any stage in the software development process, but must be, well planned, designed, executed and recorded </a:t>
            </a:r>
          </a:p>
          <a:p>
            <a:r>
              <a:rPr lang="en-GB" dirty="0"/>
              <a:t>The manner in which this is done will be determined by the approach taken; the waterfall method or an iterative approach.</a:t>
            </a:r>
          </a:p>
          <a:p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7352DA78-951C-4FB6-9DD9-F0865F886A5F}"/>
              </a:ext>
            </a:extLst>
          </p:cNvPr>
          <p:cNvGrpSpPr/>
          <p:nvPr/>
        </p:nvGrpSpPr>
        <p:grpSpPr>
          <a:xfrm>
            <a:off x="5556567" y="4736193"/>
            <a:ext cx="6470333" cy="2121806"/>
            <a:chOff x="0" y="0"/>
            <a:chExt cx="4661856" cy="18272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C504E0F1-51D3-4002-A2A9-9F3D1CFC7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4661856" cy="1827214"/>
            </a:xfrm>
            <a:prstGeom prst="rect">
              <a:avLst/>
            </a:prstGeom>
          </p:spPr>
        </p:pic>
        <p:sp>
          <p:nvSpPr>
            <p:cNvPr id="7" name="Text Box 17">
              <a:extLst>
                <a:ext uri="{FF2B5EF4-FFF2-40B4-BE49-F238E27FC236}">
                  <a16:creationId xmlns:a16="http://schemas.microsoft.com/office/drawing/2014/main" xmlns="" id="{62CA2C0A-FE27-4957-B0CB-EE088F3A7638}"/>
                </a:ext>
              </a:extLst>
            </p:cNvPr>
            <p:cNvSpPr txBox="1"/>
            <p:nvPr/>
          </p:nvSpPr>
          <p:spPr>
            <a:xfrm>
              <a:off x="1570231" y="303511"/>
              <a:ext cx="2833672" cy="120588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 </a:t>
              </a: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test plan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is a document which describes in detail the activities to be undertaken when testing is carried out</a:t>
              </a: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Picture 2" descr="Free: Clipart Info - Bart Simpson Transparent Background - nohat.cc">
            <a:extLst>
              <a:ext uri="{FF2B5EF4-FFF2-40B4-BE49-F238E27FC236}">
                <a16:creationId xmlns:a16="http://schemas.microsoft.com/office/drawing/2014/main" xmlns="" id="{0EF64360-0D59-4F16-B673-2BDCC06AF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95" b="94828" l="10000" r="90000">
                        <a14:foregroundMark x1="31667" y1="5927" x2="31667" y2="18858"/>
                        <a14:foregroundMark x1="21806" y1="26616" x2="31944" y2="27694"/>
                        <a14:foregroundMark x1="31944" y1="27694" x2="38333" y2="29849"/>
                        <a14:foregroundMark x1="23333" y1="21336" x2="21667" y2="36853"/>
                        <a14:foregroundMark x1="33472" y1="71336" x2="51250" y2="74030"/>
                        <a14:foregroundMark x1="51250" y1="74030" x2="51250" y2="74030"/>
                        <a14:foregroundMark x1="29028" y1="73491" x2="31806" y2="74784"/>
                        <a14:foregroundMark x1="28056" y1="88147" x2="37083" y2="91056"/>
                        <a14:foregroundMark x1="37083" y1="91056" x2="44722" y2="91703"/>
                        <a14:foregroundMark x1="47639" y1="94073" x2="39028" y2="94828"/>
                        <a14:foregroundMark x1="24028" y1="92780" x2="33333" y2="93103"/>
                        <a14:foregroundMark x1="45278" y1="88147" x2="46667" y2="88901"/>
                        <a14:foregroundMark x1="40972" y1="87177" x2="49028" y2="87931"/>
                        <a14:foregroundMark x1="32639" y1="85560" x2="38611" y2="86638"/>
                        <a14:foregroundMark x1="18194" y1="24246" x2="18194" y2="28556"/>
                        <a14:foregroundMark x1="33472" y1="24461" x2="30417" y2="29095"/>
                        <a14:foregroundMark x1="27500" y1="5711" x2="27500" y2="5711"/>
                        <a14:foregroundMark x1="31667" y1="5388" x2="31667" y2="5388"/>
                        <a14:foregroundMark x1="27778" y1="4957" x2="27778" y2="4957"/>
                        <a14:foregroundMark x1="31667" y1="4095" x2="31806" y2="6681"/>
                        <a14:foregroundMark x1="29444" y1="24784" x2="39306" y2="27155"/>
                        <a14:foregroundMark x1="39306" y1="27155" x2="42639" y2="29095"/>
                        <a14:foregroundMark x1="15417" y1="25970" x2="15417" y2="25970"/>
                        <a14:foregroundMark x1="35000" y1="94073" x2="40417" y2="94073"/>
                        <a14:foregroundMark x1="49306" y1="93858" x2="50694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80730" y="3429000"/>
            <a:ext cx="2845417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ool homer simpson HD wallpapers | Pxfuel">
            <a:extLst>
              <a:ext uri="{FF2B5EF4-FFF2-40B4-BE49-F238E27FC236}">
                <a16:creationId xmlns:a16="http://schemas.microsoft.com/office/drawing/2014/main" xmlns="" id="{79D72AEF-7958-4937-8E43-66E96549AF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96" t="35423"/>
          <a:stretch/>
        </p:blipFill>
        <p:spPr bwMode="auto">
          <a:xfrm>
            <a:off x="12311743" y="7013575"/>
            <a:ext cx="2463800" cy="260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89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A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ool homer simpson HD wallpapers | Pxfuel">
            <a:extLst>
              <a:ext uri="{FF2B5EF4-FFF2-40B4-BE49-F238E27FC236}">
                <a16:creationId xmlns:a16="http://schemas.microsoft.com/office/drawing/2014/main" xmlns="" id="{97196BCD-F26D-4C80-B69C-33DACB7F0B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96" t="35423"/>
          <a:stretch/>
        </p:blipFill>
        <p:spPr bwMode="auto">
          <a:xfrm>
            <a:off x="9728200" y="4250760"/>
            <a:ext cx="2463800" cy="260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ABFC06-2569-4EA6-B772-E2A98F4D6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900" y="0"/>
            <a:ext cx="5816600" cy="1325563"/>
          </a:xfrm>
        </p:spPr>
        <p:txBody>
          <a:bodyPr/>
          <a:lstStyle/>
          <a:p>
            <a:pPr algn="r"/>
            <a:r>
              <a:rPr lang="en-GB" dirty="0">
                <a:solidFill>
                  <a:schemeClr val="bg1"/>
                </a:solidFill>
              </a:rPr>
              <a:t>Ingredients to a Test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50974E-834D-48BB-81C1-487C66F49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" y="1052576"/>
            <a:ext cx="11165332" cy="5067299"/>
          </a:xfrm>
        </p:spPr>
        <p:txBody>
          <a:bodyPr>
            <a:normAutofit/>
          </a:bodyPr>
          <a:lstStyle/>
          <a:p>
            <a:pPr lvl="0"/>
            <a:r>
              <a:rPr lang="en-GB" dirty="0">
                <a:solidFill>
                  <a:schemeClr val="bg1"/>
                </a:solidFill>
              </a:rPr>
              <a:t>There are several details expected within a test plan: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Introduction: Summary of particular area to be tested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Features to be tested: What are you looking to actually test here (in detail)?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Testing approach: White box/black box/unit/integration/system)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Test environment: the hardware/software being used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Staff involvement: who is doing the testing (end user/programmer/etc)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Test Schedule: any key dates, so if integration testing what are the prerequisites?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solidFill>
                  <a:schemeClr val="bg1"/>
                </a:solidFill>
              </a:rPr>
              <a:t>Test Strategy: This includes numbering the tests, example test data, expected and actual outcome, any comments about code changes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7BBDFA1B-D220-48CB-81AC-CABD5A641A78}"/>
              </a:ext>
            </a:extLst>
          </p:cNvPr>
          <p:cNvGraphicFramePr>
            <a:graphicFrameLocks noGrp="1"/>
          </p:cNvGraphicFramePr>
          <p:nvPr/>
        </p:nvGraphicFramePr>
        <p:xfrm>
          <a:off x="212435" y="4988846"/>
          <a:ext cx="10178474" cy="17411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5710">
                  <a:extLst>
                    <a:ext uri="{9D8B030D-6E8A-4147-A177-3AD203B41FA5}">
                      <a16:colId xmlns:a16="http://schemas.microsoft.com/office/drawing/2014/main" xmlns="" val="3086598321"/>
                    </a:ext>
                  </a:extLst>
                </a:gridCol>
                <a:gridCol w="1514764">
                  <a:extLst>
                    <a:ext uri="{9D8B030D-6E8A-4147-A177-3AD203B41FA5}">
                      <a16:colId xmlns:a16="http://schemas.microsoft.com/office/drawing/2014/main" xmlns="" val="437341241"/>
                    </a:ext>
                  </a:extLst>
                </a:gridCol>
                <a:gridCol w="860165">
                  <a:extLst>
                    <a:ext uri="{9D8B030D-6E8A-4147-A177-3AD203B41FA5}">
                      <a16:colId xmlns:a16="http://schemas.microsoft.com/office/drawing/2014/main" xmlns="" val="604324801"/>
                    </a:ext>
                  </a:extLst>
                </a:gridCol>
                <a:gridCol w="1238238">
                  <a:extLst>
                    <a:ext uri="{9D8B030D-6E8A-4147-A177-3AD203B41FA5}">
                      <a16:colId xmlns:a16="http://schemas.microsoft.com/office/drawing/2014/main" xmlns="" val="3726883913"/>
                    </a:ext>
                  </a:extLst>
                </a:gridCol>
                <a:gridCol w="1917711">
                  <a:extLst>
                    <a:ext uri="{9D8B030D-6E8A-4147-A177-3AD203B41FA5}">
                      <a16:colId xmlns:a16="http://schemas.microsoft.com/office/drawing/2014/main" xmlns="" val="3658629706"/>
                    </a:ext>
                  </a:extLst>
                </a:gridCol>
                <a:gridCol w="1243106">
                  <a:extLst>
                    <a:ext uri="{9D8B030D-6E8A-4147-A177-3AD203B41FA5}">
                      <a16:colId xmlns:a16="http://schemas.microsoft.com/office/drawing/2014/main" xmlns="" val="2920027264"/>
                    </a:ext>
                  </a:extLst>
                </a:gridCol>
                <a:gridCol w="1317088">
                  <a:extLst>
                    <a:ext uri="{9D8B030D-6E8A-4147-A177-3AD203B41FA5}">
                      <a16:colId xmlns:a16="http://schemas.microsoft.com/office/drawing/2014/main" xmlns="" val="3153271948"/>
                    </a:ext>
                  </a:extLst>
                </a:gridCol>
                <a:gridCol w="1551692">
                  <a:extLst>
                    <a:ext uri="{9D8B030D-6E8A-4147-A177-3AD203B41FA5}">
                      <a16:colId xmlns:a16="http://schemas.microsoft.com/office/drawing/2014/main" xmlns="" val="726970060"/>
                    </a:ext>
                  </a:extLst>
                </a:gridCol>
              </a:tblGrid>
              <a:tr h="1044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Test No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User requirement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Reason for test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Test data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effectLst/>
                        </a:rPr>
                        <a:t>Black Box/White Box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Expected outcome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Actual outcome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Match/ corrective action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46802501"/>
                  </a:ext>
                </a:extLst>
              </a:tr>
              <a:tr h="3482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1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032073063"/>
                  </a:ext>
                </a:extLst>
              </a:tr>
              <a:tr h="3482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2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9998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421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C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D wallpaper: The Simpsons, Homer Simpson, yellow, copy space, no people |  Wallpaper Flare">
            <a:extLst>
              <a:ext uri="{FF2B5EF4-FFF2-40B4-BE49-F238E27FC236}">
                <a16:creationId xmlns:a16="http://schemas.microsoft.com/office/drawing/2014/main" xmlns="" id="{25CA2635-F700-4C0C-843A-9C89D1FB4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9" r="39243"/>
          <a:stretch/>
        </p:blipFill>
        <p:spPr bwMode="auto">
          <a:xfrm>
            <a:off x="9500075" y="1054823"/>
            <a:ext cx="2691925" cy="5803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61FF-D203-4B8E-9140-1B62405C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Types of Test Data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77D64A-78EB-4647-A160-FD68D45F8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" y="1825624"/>
            <a:ext cx="9753600" cy="50323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Each input on a system needs to be tested (where you can enter data), as well as each button and option in which a user can interact with the system.</a:t>
            </a:r>
          </a:p>
          <a:p>
            <a:r>
              <a:rPr lang="en-GB" dirty="0"/>
              <a:t>We need to use different kinds of data:</a:t>
            </a:r>
          </a:p>
          <a:p>
            <a:pPr marL="0" indent="0">
              <a:buNone/>
            </a:pPr>
            <a:endParaRPr lang="en-GB" sz="1100" dirty="0"/>
          </a:p>
          <a:p>
            <a:pPr lvl="1"/>
            <a:r>
              <a:rPr lang="en-GB" dirty="0"/>
              <a:t>Valid Data: Data that should be acceptable by the system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Invalid Data: Data that should be rejected by (but not crash) the system.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Extreme Data: An extension of valid data, but are either the maximum of minimum value that should be accepted by the system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Null Data: Entering no data at all, which should be rejected (but again, not crash) the system</a:t>
            </a:r>
          </a:p>
          <a:p>
            <a:endParaRPr lang="en-GB" dirty="0"/>
          </a:p>
        </p:txBody>
      </p:sp>
      <p:pic>
        <p:nvPicPr>
          <p:cNvPr id="10244" name="Picture 4" descr="Cute Lisa Simpson transparent PNG - StickPNG">
            <a:extLst>
              <a:ext uri="{FF2B5EF4-FFF2-40B4-BE49-F238E27FC236}">
                <a16:creationId xmlns:a16="http://schemas.microsoft.com/office/drawing/2014/main" xmlns="" id="{4BE7308F-E9B0-486A-B751-8CCA0DAC4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53" y="3470038"/>
            <a:ext cx="590947" cy="67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Bart Simpson | Antagonists Wiki | Fandom">
            <a:extLst>
              <a:ext uri="{FF2B5EF4-FFF2-40B4-BE49-F238E27FC236}">
                <a16:creationId xmlns:a16="http://schemas.microsoft.com/office/drawing/2014/main" xmlns="" id="{90A63B84-6F1D-4982-B078-6DC53DEF4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4120542"/>
            <a:ext cx="315301" cy="70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7552297B-AFAD-4CFD-871E-34F6C769A29A}"/>
              </a:ext>
            </a:extLst>
          </p:cNvPr>
          <p:cNvGrpSpPr/>
          <p:nvPr/>
        </p:nvGrpSpPr>
        <p:grpSpPr>
          <a:xfrm>
            <a:off x="145116" y="4966347"/>
            <a:ext cx="648634" cy="824009"/>
            <a:chOff x="145116" y="4966347"/>
            <a:chExt cx="648634" cy="824009"/>
          </a:xfrm>
        </p:grpSpPr>
        <p:pic>
          <p:nvPicPr>
            <p:cNvPr id="10248" name="Picture 8" descr="Maggie Simpson - Wikipedia">
              <a:extLst>
                <a:ext uri="{FF2B5EF4-FFF2-40B4-BE49-F238E27FC236}">
                  <a16:creationId xmlns:a16="http://schemas.microsoft.com/office/drawing/2014/main" xmlns="" id="{4F477453-0910-4EAD-98A8-66C51B7264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116" y="5207000"/>
              <a:ext cx="280474" cy="405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50" name="Picture 10" descr="Abe Simpson (The Simpsons) -2 by frasier-and-niles on DeviantArt">
              <a:extLst>
                <a:ext uri="{FF2B5EF4-FFF2-40B4-BE49-F238E27FC236}">
                  <a16:creationId xmlns:a16="http://schemas.microsoft.com/office/drawing/2014/main" xmlns="" id="{766E1968-BA1E-488A-9DB3-FBF502DB8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025" b="93518" l="9966" r="89863">
                          <a14:foregroundMark x1="64433" y1="5899" x2="59278" y2="14785"/>
                          <a14:foregroundMark x1="57045" y1="5171" x2="57904" y2="8303"/>
                          <a14:foregroundMark x1="31271" y1="19665" x2="47423" y2="20029"/>
                          <a14:foregroundMark x1="31271" y1="17990" x2="52234" y2="19811"/>
                          <a14:foregroundMark x1="26804" y1="17771" x2="26804" y2="17771"/>
                          <a14:foregroundMark x1="22509" y1="20175" x2="27320" y2="21850"/>
                          <a14:foregroundMark x1="21993" y1="20539" x2="25086" y2="20029"/>
                          <a14:foregroundMark x1="25945" y1="90750" x2="38660" y2="91697"/>
                          <a14:foregroundMark x1="45189" y1="93518" x2="70962" y2="93518"/>
                          <a14:foregroundMark x1="35223" y1="35033" x2="40034" y2="364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500" y="4966347"/>
              <a:ext cx="349250" cy="824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52" name="Picture 12" descr="Homer Simpson - Wikisimpsons, the Simpsons Wiki">
            <a:extLst>
              <a:ext uri="{FF2B5EF4-FFF2-40B4-BE49-F238E27FC236}">
                <a16:creationId xmlns:a16="http://schemas.microsoft.com/office/drawing/2014/main" xmlns="" id="{3CA6F4C5-727F-4452-9FD9-5961F78F8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80" y="5855929"/>
            <a:ext cx="433640" cy="70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909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12845</Words>
  <Application>Microsoft Office PowerPoint</Application>
  <PresentationFormat>Widescreen</PresentationFormat>
  <Paragraphs>1986</Paragraphs>
  <Slides>172</Slides>
  <Notes>12</Notes>
  <HiddenSlides>0</HiddenSlides>
  <MMClips>5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172</vt:i4>
      </vt:variant>
    </vt:vector>
  </HeadingPairs>
  <TitlesOfParts>
    <vt:vector size="194" baseType="lpstr">
      <vt:lpstr>Abadi</vt:lpstr>
      <vt:lpstr>Agency FB</vt:lpstr>
      <vt:lpstr>Aptos</vt:lpstr>
      <vt:lpstr>Arial</vt:lpstr>
      <vt:lpstr>Arial-BoldMT</vt:lpstr>
      <vt:lpstr>ArialMT</vt:lpstr>
      <vt:lpstr>Bell MT</vt:lpstr>
      <vt:lpstr>Calibri</vt:lpstr>
      <vt:lpstr>Calibri Light</vt:lpstr>
      <vt:lpstr>Century Gothic</vt:lpstr>
      <vt:lpstr>Comic Sans MS</vt:lpstr>
      <vt:lpstr>Cordia New</vt:lpstr>
      <vt:lpstr>Courier New</vt:lpstr>
      <vt:lpstr>Forte</vt:lpstr>
      <vt:lpstr>Ink Free</vt:lpstr>
      <vt:lpstr>LEMON MILK</vt:lpstr>
      <vt:lpstr>Symbol</vt:lpstr>
      <vt:lpstr>Times New Roman</vt:lpstr>
      <vt:lpstr>Wingdings</vt:lpstr>
      <vt:lpstr>Office Theme</vt:lpstr>
      <vt:lpstr>1_Office Theme</vt:lpstr>
      <vt:lpstr>2_Office Theme</vt:lpstr>
      <vt:lpstr>PROGRAMMING</vt:lpstr>
      <vt:lpstr>PowerPoint Presentation</vt:lpstr>
      <vt:lpstr>What is a Computer Program?</vt:lpstr>
      <vt:lpstr>Data</vt:lpstr>
      <vt:lpstr>Variables and Constants</vt:lpstr>
      <vt:lpstr>Why use constants?</vt:lpstr>
      <vt:lpstr>Why use variables?</vt:lpstr>
      <vt:lpstr>Data Types</vt:lpstr>
      <vt:lpstr>Variable Names</vt:lpstr>
      <vt:lpstr>camelCase</vt:lpstr>
      <vt:lpstr>Hello, World!</vt:lpstr>
      <vt:lpstr>Developing Programs</vt:lpstr>
      <vt:lpstr>Programming Paradigms</vt:lpstr>
      <vt:lpstr>Procedural Programming</vt:lpstr>
      <vt:lpstr>So, What is this program doing?</vt:lpstr>
      <vt:lpstr>User Defined Functions</vt:lpstr>
      <vt:lpstr>Object Oriented Programming </vt:lpstr>
      <vt:lpstr>Object Oriented Programming </vt:lpstr>
      <vt:lpstr>Features of OOP: Inheritance</vt:lpstr>
      <vt:lpstr>Encapsulation</vt:lpstr>
      <vt:lpstr>Benefits of OOP</vt:lpstr>
      <vt:lpstr>Example of OOP</vt:lpstr>
      <vt:lpstr>Example of OOP</vt:lpstr>
      <vt:lpstr>Example of OOP</vt:lpstr>
      <vt:lpstr>Software Development Environments</vt:lpstr>
      <vt:lpstr>Features of an IDE</vt:lpstr>
      <vt:lpstr>PowerPoint Presentation</vt:lpstr>
      <vt:lpstr>Compiling Code</vt:lpstr>
      <vt:lpstr>Unit 4 | Chapter 22 – Digital Data</vt:lpstr>
      <vt:lpstr>Learning Intentions</vt:lpstr>
      <vt:lpstr>Let’s start with a bunch of key terms.</vt:lpstr>
      <vt:lpstr>Converting Numbers into Binary Patterns</vt:lpstr>
      <vt:lpstr>So how does this help with binary?</vt:lpstr>
      <vt:lpstr>This still doesn’t answer the question of how we read a binary value?</vt:lpstr>
      <vt:lpstr>I can have 8</vt:lpstr>
      <vt:lpstr>So, let’s get back to our base 2 stuff:</vt:lpstr>
      <vt:lpstr>We can make any integer using this system</vt:lpstr>
      <vt:lpstr>PowerPoint Presentation</vt:lpstr>
      <vt:lpstr>Can we convert a denary number to binary? </vt:lpstr>
      <vt:lpstr>PowerPoint Presentation</vt:lpstr>
      <vt:lpstr>Binary Coded Decimal</vt:lpstr>
      <vt:lpstr>Character Sets</vt:lpstr>
      <vt:lpstr>Representing Characters</vt:lpstr>
      <vt:lpstr>Representing Characters</vt:lpstr>
      <vt:lpstr>Hexadecimal Number System</vt:lpstr>
      <vt:lpstr>Converting a 16-bit Binary pattern to Hex</vt:lpstr>
      <vt:lpstr>Sign, magnitude and Complementation</vt:lpstr>
      <vt:lpstr>Complementation</vt:lpstr>
      <vt:lpstr>One’s Complement</vt:lpstr>
      <vt:lpstr>Two’s Complement</vt:lpstr>
      <vt:lpstr>PowerPoint Presentation</vt:lpstr>
      <vt:lpstr>Overflow</vt:lpstr>
      <vt:lpstr>Overflow</vt:lpstr>
      <vt:lpstr>Truth Tables</vt:lpstr>
      <vt:lpstr>NOT Operator</vt:lpstr>
      <vt:lpstr>AND Operator</vt:lpstr>
      <vt:lpstr>OR Operator</vt:lpstr>
      <vt:lpstr>XOR Operator</vt:lpstr>
      <vt:lpstr>There are a few notable others</vt:lpstr>
      <vt:lpstr>Using Data Types</vt:lpstr>
      <vt:lpstr>PowerPoint Presentation</vt:lpstr>
      <vt:lpstr>Digital Design Principles</vt:lpstr>
      <vt:lpstr>PowerPoint Presentation</vt:lpstr>
      <vt:lpstr>The Underlying Concepts of Computational Thinking</vt:lpstr>
      <vt:lpstr>Algorithm Design: Flowcharts</vt:lpstr>
      <vt:lpstr>PowerPoint Presentation</vt:lpstr>
      <vt:lpstr>Quick Examples</vt:lpstr>
      <vt:lpstr>Activity: Create Your Own</vt:lpstr>
      <vt:lpstr>Algorithm Design: Pseudocode</vt:lpstr>
      <vt:lpstr>Quick Examples</vt:lpstr>
      <vt:lpstr>Best Practice for Writing Pseudocode</vt:lpstr>
      <vt:lpstr>Activity: Create Your Own</vt:lpstr>
      <vt:lpstr>Program Control Structures</vt:lpstr>
      <vt:lpstr>Program Control Structures</vt:lpstr>
      <vt:lpstr>Program Control Structures</vt:lpstr>
      <vt:lpstr>Unconditional loops</vt:lpstr>
      <vt:lpstr>Condition Controlled Loops</vt:lpstr>
      <vt:lpstr>PowerPoint Presentation</vt:lpstr>
      <vt:lpstr>Sorting Algorithms: Bubble sort</vt:lpstr>
      <vt:lpstr>Sorting Algorithms: insertion sort</vt:lpstr>
      <vt:lpstr>Bubble Sort Vs Insertion Sort</vt:lpstr>
      <vt:lpstr>Algorithms for Searching</vt:lpstr>
      <vt:lpstr>Searching Algorithms: Linear Search &amp;  Binary Search</vt:lpstr>
      <vt:lpstr>PowerPoint Presentation</vt:lpstr>
      <vt:lpstr>Designing Solutions: Models</vt:lpstr>
      <vt:lpstr>Identifying Data Requirements for a Solution</vt:lpstr>
      <vt:lpstr>Developing an Appropriate User Interface</vt:lpstr>
      <vt:lpstr>Using a Dry Run to Test a Solution</vt:lpstr>
      <vt:lpstr>Creating a Trace Table</vt:lpstr>
      <vt:lpstr>PowerPoint Presentation</vt:lpstr>
      <vt:lpstr>The Specification</vt:lpstr>
      <vt:lpstr>The Difference Between Variables &amp; Constants</vt:lpstr>
      <vt:lpstr>Fix the code</vt:lpstr>
      <vt:lpstr>Displaying Your Data</vt:lpstr>
      <vt:lpstr>Coding Challenge: Digital ID Card</vt:lpstr>
      <vt:lpstr>Activity: What’s wrong here then?</vt:lpstr>
      <vt:lpstr>PowerPoint Presentation</vt:lpstr>
      <vt:lpstr>Making Programs Interactive in C#</vt:lpstr>
      <vt:lpstr>Capturing Data with Console.ReadLine()</vt:lpstr>
      <vt:lpstr>Check Yourself (before you wreck yourself!)</vt:lpstr>
      <vt:lpstr>Making Choices: The IF Statement</vt:lpstr>
      <vt:lpstr>Code Structure: Input + Logic</vt:lpstr>
      <vt:lpstr>PowerPoint Presentation</vt:lpstr>
      <vt:lpstr>Operator Check</vt:lpstr>
      <vt:lpstr>The Power of Repetition</vt:lpstr>
      <vt:lpstr>The FOR Loop Structure</vt:lpstr>
      <vt:lpstr>Anatomy of a For Loop</vt:lpstr>
      <vt:lpstr>Check your Knowledge!</vt:lpstr>
      <vt:lpstr>Going around in circles? MORE LOOPS?</vt:lpstr>
      <vt:lpstr>Anatomy of a While Loop</vt:lpstr>
      <vt:lpstr>PowerPoint Presentation</vt:lpstr>
      <vt:lpstr>Choosing the Right Tool</vt:lpstr>
      <vt:lpstr>Task: Times Table Generator</vt:lpstr>
      <vt:lpstr>Explain it to a 10 Year Old</vt:lpstr>
      <vt:lpstr>Features of Programming Languages</vt:lpstr>
      <vt:lpstr>Arrays</vt:lpstr>
      <vt:lpstr>Declaring an Array</vt:lpstr>
      <vt:lpstr>Using Arrays</vt:lpstr>
      <vt:lpstr>Looping through Arrays</vt:lpstr>
      <vt:lpstr>Sorting: BUBBLE SORT</vt:lpstr>
      <vt:lpstr>Sorting: INSERTION SORT</vt:lpstr>
      <vt:lpstr>Simple Searching: Linear Search</vt:lpstr>
      <vt:lpstr>Simple Searching: Binary Search</vt:lpstr>
      <vt:lpstr>The Specification</vt:lpstr>
      <vt:lpstr>String Manipulation Functions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Building Reusable Code</vt:lpstr>
      <vt:lpstr>User Defined Functions</vt:lpstr>
      <vt:lpstr>Basic File Handling</vt:lpstr>
      <vt:lpstr>Your PC hasn’t looked at Error Handling Yet, so this Lesson will Look to Teaching You How to Handle and Resolve Errors in Programming</vt:lpstr>
      <vt:lpstr>Learning Intentions</vt:lpstr>
      <vt:lpstr>PowerPoint Presentation</vt:lpstr>
      <vt:lpstr>What Does The Error Handling Topic Involve?</vt:lpstr>
      <vt:lpstr>Data Validation</vt:lpstr>
      <vt:lpstr>Why do we need validation?</vt:lpstr>
      <vt:lpstr>Data Validation Checks</vt:lpstr>
      <vt:lpstr>Write TRUE or FALSE beside each of the following statements about validation.</vt:lpstr>
      <vt:lpstr>Write TRUE or FALSE beside each of the following statements about validation.</vt:lpstr>
      <vt:lpstr>Detection And Correction Techniques</vt:lpstr>
      <vt:lpstr>PowerPoint Presentation</vt:lpstr>
      <vt:lpstr>Debugging</vt:lpstr>
      <vt:lpstr>Simple Error-trapping Techniques </vt:lpstr>
      <vt:lpstr>Exception Handling</vt:lpstr>
      <vt:lpstr>PowerPoint Presentation</vt:lpstr>
      <vt:lpstr>PowerPoint Presentation</vt:lpstr>
      <vt:lpstr>What You Need To Know</vt:lpstr>
      <vt:lpstr>PowerPoint Presentation</vt:lpstr>
      <vt:lpstr>White Box Testing</vt:lpstr>
      <vt:lpstr>White Box Testing</vt:lpstr>
      <vt:lpstr>Black Box Testing</vt:lpstr>
      <vt:lpstr>Black Box Testing</vt:lpstr>
      <vt:lpstr>Unit Testing</vt:lpstr>
      <vt:lpstr>Integration Testing</vt:lpstr>
      <vt:lpstr>System Testing</vt:lpstr>
      <vt:lpstr>Creating and Using a Test Plan</vt:lpstr>
      <vt:lpstr>Ingredients to a Test Plan</vt:lpstr>
      <vt:lpstr>The Types of Test Data To Use</vt:lpstr>
      <vt:lpstr>Evaluation Of Digitally Authored Systems</vt:lpstr>
      <vt:lpstr>What the Spec Says</vt:lpstr>
      <vt:lpstr>The Importance of Evaluating a System</vt:lpstr>
      <vt:lpstr>Functional and Non Functional Requirements</vt:lpstr>
      <vt:lpstr>Robustness</vt:lpstr>
      <vt:lpstr>An Evaluation Table</vt:lpstr>
      <vt:lpstr>Complete the paragraph below, about evaluation, using terms from the list provided. (Not all terms will be used.)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 Butler</dc:creator>
  <cp:lastModifiedBy>Microsoft account</cp:lastModifiedBy>
  <cp:revision>55</cp:revision>
  <dcterms:created xsi:type="dcterms:W3CDTF">2026-01-05T15:57:32Z</dcterms:created>
  <dcterms:modified xsi:type="dcterms:W3CDTF">2026-10-31T12:15:45Z</dcterms:modified>
</cp:coreProperties>
</file>